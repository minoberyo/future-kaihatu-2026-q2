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20000" cy="10692000"/>
  <p:notesSz cx="10692000" cy="1512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7440" y="614160"/>
            <a:ext cx="501120" cy="177480"/>
          </a:xfrm>
          <a:prstGeom prst="roundRect">
            <a:avLst>
              <a:gd name="adj" fmla="val 25761"/>
            </a:avLst>
          </a:prstGeom>
          <a:solidFill>
            <a:srgbClr val="0EA5B7"/>
          </a:solidFill>
          <a:ln/>
        </p:spPr>
      </p:sp>
      <p:sp>
        <p:nvSpPr>
          <p:cNvPr id="3" name="Shape 1"/>
          <p:cNvSpPr/>
          <p:nvPr/>
        </p:nvSpPr>
        <p:spPr>
          <a:xfrm>
            <a:off x="784800" y="833400"/>
            <a:ext cx="626400" cy="177480"/>
          </a:xfrm>
          <a:prstGeom prst="roundRect">
            <a:avLst>
              <a:gd name="adj" fmla="val 25761"/>
            </a:avLst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22160" y="1052640"/>
            <a:ext cx="751680" cy="177480"/>
          </a:xfrm>
          <a:prstGeom prst="roundRect">
            <a:avLst>
              <a:gd name="adj" fmla="val 25761"/>
            </a:avLst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59520" y="1271880"/>
            <a:ext cx="876960" cy="177480"/>
          </a:xfrm>
          <a:prstGeom prst="roundRect">
            <a:avLst>
              <a:gd name="adj" fmla="val 25761"/>
            </a:avLst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1908000" y="475200"/>
            <a:ext cx="720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b="1" spc="300" kern="0" dirty="0">
                <a:solidFill>
                  <a:srgbClr val="2F6FE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TUMINE  /  CHORD LEARNING APP</a:t>
            </a:r>
            <a:endParaRPr lang="en-US" sz="1110" dirty="0"/>
          </a:p>
        </p:txBody>
      </p:sp>
      <p:sp>
        <p:nvSpPr>
          <p:cNvPr id="7" name="Text 5"/>
          <p:cNvSpPr/>
          <p:nvPr/>
        </p:nvSpPr>
        <p:spPr>
          <a:xfrm>
            <a:off x="1908000" y="666000"/>
            <a:ext cx="7200000" cy="6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4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積み音</a:t>
            </a:r>
            <a:pPr indent="0" marL="0">
              <a:buNone/>
            </a:pPr>
            <a:r>
              <a:rPr lang="en-US" sz="1530" b="1" spc="200" kern="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つみね</a:t>
            </a:r>
            <a:endParaRPr lang="en-US" sz="4540" dirty="0"/>
          </a:p>
        </p:txBody>
      </p:sp>
      <p:sp>
        <p:nvSpPr>
          <p:cNvPr id="8" name="Text 6"/>
          <p:cNvSpPr/>
          <p:nvPr/>
        </p:nvSpPr>
        <p:spPr>
          <a:xfrm>
            <a:off x="1908000" y="1386000"/>
            <a:ext cx="828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3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理屈より、まず積む。 ── コードを「聴いて」学ぶWebアプリ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10440000" y="486000"/>
            <a:ext cx="410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3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ryom</a:t>
            </a:r>
            <a:endParaRPr lang="en-US" sz="1930" dirty="0"/>
          </a:p>
        </p:txBody>
      </p:sp>
      <p:sp>
        <p:nvSpPr>
          <p:cNvPr id="10" name="Text 8"/>
          <p:cNvSpPr/>
          <p:nvPr/>
        </p:nvSpPr>
        <p:spPr>
          <a:xfrm>
            <a:off x="10440000" y="828000"/>
            <a:ext cx="4104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1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武蔵野大学</a:t>
            </a:r>
            <a:endParaRPr lang="en-US" sz="111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111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データサイエンス学部 2年</a:t>
            </a:r>
            <a:endParaRPr lang="en-US" sz="111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111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個人開発 / 2026</a:t>
            </a:r>
            <a:endParaRPr lang="en-US" sz="1110" dirty="0"/>
          </a:p>
        </p:txBody>
      </p:sp>
      <p:sp>
        <p:nvSpPr>
          <p:cNvPr id="11" name="Shape 9"/>
          <p:cNvSpPr/>
          <p:nvPr/>
        </p:nvSpPr>
        <p:spPr>
          <a:xfrm>
            <a:off x="576000" y="1728000"/>
            <a:ext cx="13968000" cy="57600"/>
          </a:xfrm>
          <a:prstGeom prst="rect">
            <a:avLst/>
          </a:prstGeom>
          <a:solidFill>
            <a:srgbClr val="1F2430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00" y="2016000"/>
            <a:ext cx="216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b="1" spc="250" kern="0" dirty="0">
                <a:solidFill>
                  <a:srgbClr val="2F6FE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 機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576000" y="2268000"/>
            <a:ext cx="4896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6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「長三度は半音4つ」と読んでも、初心者には何のことか分からない。</a:t>
            </a:r>
            <a:endParaRPr lang="en-US" sz="116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6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でも先に音を聴けば「明るい」と分かる。</a:t>
            </a:r>
            <a:endParaRPr lang="en-US" sz="116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6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音楽理論の教材は用語の説明から始まるものが多く、そこが最初の壁になる。</a:t>
            </a:r>
            <a:endParaRPr lang="en-US" sz="116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6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音楽理論を学んでいる最中の自分がほしかったものを、そのまま形にした。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5796000" y="2016000"/>
            <a:ext cx="14400" cy="1656000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0000" y="2016000"/>
            <a:ext cx="216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b="1" spc="250" kern="0" dirty="0">
                <a:solidFill>
                  <a:srgbClr val="2F6FE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 的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6120000" y="2250000"/>
            <a:ext cx="4896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7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用語からではなく、</a:t>
            </a:r>
            <a:pPr indent="0" marL="0">
              <a:lnSpc>
                <a:spcPct val="130000"/>
              </a:lnSpc>
              <a:buNone/>
            </a:pPr>
            <a:r>
              <a:rPr lang="en-US" sz="1870" b="1" dirty="0">
                <a:solidFill>
                  <a:srgbClr val="1F2430"/>
                </a:solidFill>
                <a:highlight>
                  <a:srgbClr val="FFDF7E"/>
                </a:highlight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音から</a:t>
            </a:r>
            <a:pPr indent="0" marL="0">
              <a:lnSpc>
                <a:spcPct val="130000"/>
              </a:lnSpc>
              <a:buNone/>
            </a:pPr>
            <a:r>
              <a:rPr lang="en-US" sz="187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理論に入れるようにする。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6120000" y="3006000"/>
            <a:ext cx="4896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6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ボタンを押すと</a:t>
            </a:r>
            <a:pPr indent="0" marL="0">
              <a:lnSpc>
                <a:spcPct val="160000"/>
              </a:lnSpc>
              <a:buNone/>
            </a:pPr>
            <a:r>
              <a:rPr lang="en-US" sz="116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まず音が鳴り、何が起きたかの説明はそのあとに出る。</a:t>
            </a:r>
            <a:pPr indent="0" marL="0">
              <a:lnSpc>
                <a:spcPct val="160000"/>
              </a:lnSpc>
              <a:buNone/>
            </a:pPr>
            <a:r>
              <a:rPr lang="en-US" sz="116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6つの画面すべてでこの順番を守っている。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12240000" y="2060308"/>
            <a:ext cx="1174154" cy="288000"/>
          </a:xfrm>
          <a:prstGeom prst="roundRect">
            <a:avLst>
              <a:gd name="adj" fmla="val 57150"/>
            </a:avLst>
          </a:prstGeom>
          <a:solidFill>
            <a:srgbClr val="0EA5B7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8000" y="2060308"/>
            <a:ext cx="1030154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9th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13524923" y="2060308"/>
            <a:ext cx="1296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浮遊感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2107077" y="2392615"/>
            <a:ext cx="1307077" cy="288000"/>
          </a:xfrm>
          <a:prstGeom prst="roundRect">
            <a:avLst>
              <a:gd name="adj" fmla="val 57150"/>
            </a:avLst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12215077" y="2392615"/>
            <a:ext cx="1163077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7th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13524923" y="2392615"/>
            <a:ext cx="1296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大人っぽさ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11974154" y="2724923"/>
            <a:ext cx="1440000" cy="288000"/>
          </a:xfrm>
          <a:prstGeom prst="roundRect">
            <a:avLst>
              <a:gd name="adj" fmla="val 57150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12082154" y="2724923"/>
            <a:ext cx="1296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5度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13524923" y="2724923"/>
            <a:ext cx="1296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安定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11841231" y="3057231"/>
            <a:ext cx="1572923" cy="288000"/>
          </a:xfrm>
          <a:prstGeom prst="roundRect">
            <a:avLst>
              <a:gd name="adj" fmla="val 57150"/>
            </a:avLst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11949231" y="3057231"/>
            <a:ext cx="1428923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3度</a:t>
            </a:r>
            <a:endParaRPr lang="en-US" sz="1110" dirty="0"/>
          </a:p>
        </p:txBody>
      </p:sp>
      <p:sp>
        <p:nvSpPr>
          <p:cNvPr id="29" name="Text 27"/>
          <p:cNvSpPr/>
          <p:nvPr/>
        </p:nvSpPr>
        <p:spPr>
          <a:xfrm>
            <a:off x="13524923" y="3057231"/>
            <a:ext cx="1296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明暗を決める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11708308" y="3389538"/>
            <a:ext cx="1705846" cy="288000"/>
          </a:xfrm>
          <a:prstGeom prst="roundRect">
            <a:avLst>
              <a:gd name="adj" fmla="val 57150"/>
            </a:avLst>
          </a:prstGeom>
          <a:solidFill>
            <a:srgbClr val="2F6FED"/>
          </a:solidFill>
          <a:ln/>
        </p:spPr>
      </p:sp>
      <p:sp>
        <p:nvSpPr>
          <p:cNvPr id="31" name="Text 29"/>
          <p:cNvSpPr/>
          <p:nvPr/>
        </p:nvSpPr>
        <p:spPr>
          <a:xfrm>
            <a:off x="11816308" y="3389538"/>
            <a:ext cx="1561846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ルート</a:t>
            </a:r>
            <a:endParaRPr lang="en-US" sz="1110" dirty="0"/>
          </a:p>
        </p:txBody>
      </p:sp>
      <p:sp>
        <p:nvSpPr>
          <p:cNvPr id="32" name="Text 30"/>
          <p:cNvSpPr/>
          <p:nvPr/>
        </p:nvSpPr>
        <p:spPr>
          <a:xfrm>
            <a:off x="13524923" y="3389538"/>
            <a:ext cx="1296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土台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11664000" y="3780000"/>
            <a:ext cx="288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6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1音ずつ積むと響きが育っていく。この色分けは鍵盤・ピアノロール・五度圏まで全画面で共通。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576000" y="4464000"/>
            <a:ext cx="13968000" cy="18000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00" y="4608000"/>
            <a:ext cx="43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b="1" spc="250" kern="0" dirty="0">
                <a:solidFill>
                  <a:srgbClr val="2F6FE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 身 ── 6つの画面</a:t>
            </a:r>
            <a:endParaRPr lang="en-US" sz="1110" dirty="0"/>
          </a:p>
        </p:txBody>
      </p:sp>
      <p:sp>
        <p:nvSpPr>
          <p:cNvPr id="36" name="Shape 34"/>
          <p:cNvSpPr/>
          <p:nvPr/>
        </p:nvSpPr>
        <p:spPr>
          <a:xfrm>
            <a:off x="576000" y="4896000"/>
            <a:ext cx="3888000" cy="129600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00" y="4946400"/>
            <a:ext cx="64800" cy="119520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8" name="Text 36"/>
          <p:cNvSpPr/>
          <p:nvPr/>
        </p:nvSpPr>
        <p:spPr>
          <a:xfrm>
            <a:off x="756000" y="5040000"/>
            <a:ext cx="356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7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入門</a:t>
            </a:r>
            <a:endParaRPr lang="en-US" sz="1470" dirty="0"/>
          </a:p>
        </p:txBody>
      </p:sp>
      <p:sp>
        <p:nvSpPr>
          <p:cNvPr id="39" name="Text 37"/>
          <p:cNvSpPr/>
          <p:nvPr/>
        </p:nvSpPr>
        <p:spPr>
          <a:xfrm>
            <a:off x="756000" y="5364000"/>
            <a:ext cx="3564000" cy="7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半音・三度・三和音・セブンスまで、コードの仕組みを7ステップで。必ず音を聴いてから種明かしを読む。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80000" y="4896000"/>
            <a:ext cx="3888000" cy="129600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0000" y="4946400"/>
            <a:ext cx="64800" cy="1195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Text 40"/>
          <p:cNvSpPr/>
          <p:nvPr/>
        </p:nvSpPr>
        <p:spPr>
          <a:xfrm>
            <a:off x="4860000" y="5040000"/>
            <a:ext cx="356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7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練習</a:t>
            </a:r>
            <a:endParaRPr lang="en-US" sz="1470" dirty="0"/>
          </a:p>
        </p:txBody>
      </p:sp>
      <p:sp>
        <p:nvSpPr>
          <p:cNvPr id="43" name="Text 41"/>
          <p:cNvSpPr/>
          <p:nvPr/>
        </p:nvSpPr>
        <p:spPr>
          <a:xfrm>
            <a:off x="4860000" y="5364000"/>
            <a:ext cx="3564000" cy="7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コードに1音ずつ足して響きの変化を体感する。足した音は役割の色で光り、前後をその場で聴き比べられる。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76000" y="6444000"/>
            <a:ext cx="3888000" cy="129600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6000" y="6494400"/>
            <a:ext cx="64800" cy="1195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756000" y="6588000"/>
            <a:ext cx="356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7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作曲</a:t>
            </a:r>
            <a:endParaRPr lang="en-US" sz="1470" dirty="0"/>
          </a:p>
        </p:txBody>
      </p:sp>
      <p:sp>
        <p:nvSpPr>
          <p:cNvPr id="47" name="Text 45"/>
          <p:cNvSpPr/>
          <p:nvPr/>
        </p:nvSpPr>
        <p:spPr>
          <a:xfrm>
            <a:off x="756000" y="6912000"/>
            <a:ext cx="3564000" cy="7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コードを並べ、メロディを乗せて再生する。行き詰まったら「次はどのコード？」で候補が出て、試聴してから選べる。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80000" y="6444000"/>
            <a:ext cx="3888000" cy="129600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0000" y="6494400"/>
            <a:ext cx="64800" cy="1195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0" name="Text 48"/>
          <p:cNvSpPr/>
          <p:nvPr/>
        </p:nvSpPr>
        <p:spPr>
          <a:xfrm>
            <a:off x="4860000" y="6588000"/>
            <a:ext cx="356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7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解説</a:t>
            </a:r>
            <a:endParaRPr lang="en-US" sz="1470" dirty="0"/>
          </a:p>
        </p:txBody>
      </p:sp>
      <p:sp>
        <p:nvSpPr>
          <p:cNvPr id="51" name="Text 49"/>
          <p:cNvSpPr/>
          <p:nvPr/>
        </p:nvSpPr>
        <p:spPr>
          <a:xfrm>
            <a:off x="4860000" y="6912000"/>
            <a:ext cx="3564000" cy="7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コードの種類・テンション・定番の進行をまとめた辞典。読むだけでなく、その場で鳴らして確かめられる。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76000" y="7992000"/>
            <a:ext cx="3888000" cy="129600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6000" y="8042400"/>
            <a:ext cx="64800" cy="119520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54" name="Text 52"/>
          <p:cNvSpPr/>
          <p:nvPr/>
        </p:nvSpPr>
        <p:spPr>
          <a:xfrm>
            <a:off x="756000" y="8136000"/>
            <a:ext cx="356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7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魔法陣</a:t>
            </a:r>
            <a:endParaRPr lang="en-US" sz="1470" dirty="0"/>
          </a:p>
        </p:txBody>
      </p:sp>
      <p:sp>
        <p:nvSpPr>
          <p:cNvPr id="55" name="Text 53"/>
          <p:cNvSpPr/>
          <p:nvPr/>
        </p:nvSpPr>
        <p:spPr>
          <a:xfrm>
            <a:off x="756000" y="8460000"/>
            <a:ext cx="3564000" cy="7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五度圏を回してキーとコードの関係を見る。進行を再生すると鳴っているコードが円の上で光る。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680000" y="7992000"/>
            <a:ext cx="3888000" cy="129600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80000" y="8042400"/>
            <a:ext cx="64800" cy="1195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8" name="Text 56"/>
          <p:cNvSpPr/>
          <p:nvPr/>
        </p:nvSpPr>
        <p:spPr>
          <a:xfrm>
            <a:off x="4860000" y="8136000"/>
            <a:ext cx="356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7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聴き比べ</a:t>
            </a:r>
            <a:endParaRPr lang="en-US" sz="1470" dirty="0"/>
          </a:p>
        </p:txBody>
      </p:sp>
      <p:sp>
        <p:nvSpPr>
          <p:cNvPr id="59" name="Text 57"/>
          <p:cNvSpPr/>
          <p:nvPr/>
        </p:nvSpPr>
        <p:spPr>
          <a:xfrm>
            <a:off x="4860000" y="8460000"/>
            <a:ext cx="3564000" cy="7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C475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王道進行と小室進行のような2つの進行を、同じキー・同じ速さで切り替える。違うコードだけ色が付く。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892000" y="4896000"/>
            <a:ext cx="5652000" cy="4392000"/>
          </a:xfrm>
          <a:prstGeom prst="roundRect">
            <a:avLst>
              <a:gd name="adj" fmla="val 833"/>
            </a:avLst>
          </a:prstGeom>
          <a:solidFill>
            <a:srgbClr val="1F2937"/>
          </a:solidFill>
          <a:ln/>
        </p:spPr>
      </p:sp>
      <p:sp>
        <p:nvSpPr>
          <p:cNvPr id="61" name="Text 59"/>
          <p:cNvSpPr/>
          <p:nvPr/>
        </p:nvSpPr>
        <p:spPr>
          <a:xfrm>
            <a:off x="9108000" y="5076000"/>
            <a:ext cx="52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b="1" spc="250" kern="0" dirty="0">
                <a:solidFill>
                  <a:srgbClr val="7DD3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 く り</a:t>
            </a:r>
            <a:endParaRPr lang="en-US" sz="1110" dirty="0"/>
          </a:p>
        </p:txBody>
      </p:sp>
      <p:sp>
        <p:nvSpPr>
          <p:cNvPr id="62" name="Text 60"/>
          <p:cNvSpPr/>
          <p:nvPr/>
        </p:nvSpPr>
        <p:spPr>
          <a:xfrm>
            <a:off x="9108000" y="5292000"/>
            <a:ext cx="522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画面を作る前に、</a:t>
            </a:r>
            <a:endParaRPr lang="en-US" sz="133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3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3つのエンジンを分けて書いた</a:t>
            </a:r>
            <a:endParaRPr lang="en-US" sz="1330" dirty="0"/>
          </a:p>
        </p:txBody>
      </p:sp>
      <p:sp>
        <p:nvSpPr>
          <p:cNvPr id="63" name="Text 61"/>
          <p:cNvSpPr/>
          <p:nvPr/>
        </p:nvSpPr>
        <p:spPr>
          <a:xfrm>
            <a:off x="9108000" y="6012000"/>
            <a:ext cx="52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理論</a:t>
            </a:r>
            <a:pPr indent="0" marL="0">
              <a:buNone/>
            </a:pPr>
            <a:r>
              <a:rPr lang="en-US" sz="910" b="1" spc="50" kern="0" dirty="0">
                <a:solidFill>
                  <a:srgbClr val="7DD3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musicTheory.js</a:t>
            </a:r>
            <a:endParaRPr lang="en-US" sz="1220" dirty="0"/>
          </a:p>
        </p:txBody>
      </p:sp>
      <p:sp>
        <p:nvSpPr>
          <p:cNvPr id="64" name="Text 62"/>
          <p:cNvSpPr/>
          <p:nvPr/>
        </p:nvSpPr>
        <p:spPr>
          <a:xfrm>
            <a:off x="9108000" y="6228000"/>
            <a:ext cx="522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90" dirty="0">
                <a:solidFill>
                  <a:srgbClr val="C8D2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構成音・テンション・移調・度数の計算を1か所に集約。同じ鍵盤でもキーで書き方が変わるため、度数から綴りを求めて G♭ と F♯ を出し分ける。</a:t>
            </a:r>
            <a:endParaRPr lang="en-US" sz="990" dirty="0"/>
          </a:p>
        </p:txBody>
      </p:sp>
      <p:sp>
        <p:nvSpPr>
          <p:cNvPr id="65" name="Text 63"/>
          <p:cNvSpPr/>
          <p:nvPr/>
        </p:nvSpPr>
        <p:spPr>
          <a:xfrm>
            <a:off x="9108000" y="6876000"/>
            <a:ext cx="52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再生</a:t>
            </a:r>
            <a:pPr indent="0" marL="0">
              <a:buNone/>
            </a:pPr>
            <a:r>
              <a:rPr lang="en-US" sz="910" b="1" spc="50" kern="0" dirty="0">
                <a:solidFill>
                  <a:srgbClr val="7DD3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audioEngine.js</a:t>
            </a:r>
            <a:endParaRPr lang="en-US" sz="1220" dirty="0"/>
          </a:p>
        </p:txBody>
      </p:sp>
      <p:sp>
        <p:nvSpPr>
          <p:cNvPr id="66" name="Text 64"/>
          <p:cNvSpPr/>
          <p:nvPr/>
        </p:nvSpPr>
        <p:spPr>
          <a:xfrm>
            <a:off x="9108000" y="7092000"/>
            <a:ext cx="522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90" dirty="0">
                <a:solidFill>
                  <a:srgbClr val="C8D2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AudioContext の時刻を基準に先まで予約して鳴らすのでテンポが揺れない。停止も確実に効き、3トラック同時・余韻の長さも可変。</a:t>
            </a:r>
            <a:endParaRPr lang="en-US" sz="990" dirty="0"/>
          </a:p>
        </p:txBody>
      </p:sp>
      <p:sp>
        <p:nvSpPr>
          <p:cNvPr id="67" name="Text 65"/>
          <p:cNvSpPr/>
          <p:nvPr/>
        </p:nvSpPr>
        <p:spPr>
          <a:xfrm>
            <a:off x="9108000" y="7740000"/>
            <a:ext cx="52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提案</a:t>
            </a:r>
            <a:pPr indent="0" marL="0">
              <a:buNone/>
            </a:pPr>
            <a:r>
              <a:rPr lang="en-US" sz="910" b="1" spc="50" kern="0" dirty="0">
                <a:solidFill>
                  <a:srgbClr val="7DD3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suggest.js</a:t>
            </a:r>
            <a:endParaRPr lang="en-US" sz="1220" dirty="0"/>
          </a:p>
        </p:txBody>
      </p:sp>
      <p:sp>
        <p:nvSpPr>
          <p:cNvPr id="68" name="Text 66"/>
          <p:cNvSpPr/>
          <p:nvPr/>
        </p:nvSpPr>
        <p:spPr>
          <a:xfrm>
            <a:off x="9108000" y="7956000"/>
            <a:ext cx="5220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90" dirty="0">
                <a:solidFill>
                  <a:srgbClr val="C8D2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機能和声の定番の流れと借用和音から、「自然につなぐ／盛り上げる／締める／意外性」の4つの役割で次の候補を出す。</a:t>
            </a:r>
            <a:endParaRPr lang="en-US" sz="990" dirty="0"/>
          </a:p>
        </p:txBody>
      </p:sp>
      <p:sp>
        <p:nvSpPr>
          <p:cNvPr id="69" name="Shape 67"/>
          <p:cNvSpPr/>
          <p:nvPr/>
        </p:nvSpPr>
        <p:spPr>
          <a:xfrm>
            <a:off x="9108000" y="8568000"/>
            <a:ext cx="5220000" cy="1080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70" name="Shape 68"/>
          <p:cNvSpPr/>
          <p:nvPr/>
        </p:nvSpPr>
        <p:spPr>
          <a:xfrm>
            <a:off x="9108000" y="8712000"/>
            <a:ext cx="1188000" cy="234000"/>
          </a:xfrm>
          <a:prstGeom prst="roundRect">
            <a:avLst>
              <a:gd name="adj" fmla="val 31262"/>
            </a:avLst>
          </a:prstGeom>
          <a:solidFill>
            <a:srgbClr val="16A34A"/>
          </a:solidFill>
          <a:ln/>
        </p:spPr>
      </p:sp>
      <p:sp>
        <p:nvSpPr>
          <p:cNvPr id="71" name="Text 69"/>
          <p:cNvSpPr/>
          <p:nvPr/>
        </p:nvSpPr>
        <p:spPr>
          <a:xfrm>
            <a:off x="9108000" y="8712000"/>
            <a:ext cx="1188000" cy="23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254 tests passed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0368000" y="8694000"/>
            <a:ext cx="3960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3つとも画面にも音源にも依存させていない。</a:t>
            </a:r>
            <a:pPr indent="0" marL="0">
              <a:lnSpc>
                <a:spcPct val="150000"/>
              </a:lnSpc>
              <a:buNone/>
            </a:pPr>
            <a:r>
              <a:rPr lang="en-US" sz="990" dirty="0">
                <a:solidFill>
                  <a:srgbClr val="DBE6F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音楽理論の計算だけを Node で自動テストできる。</a:t>
            </a:r>
            <a:endParaRPr lang="en-US" sz="990" dirty="0"/>
          </a:p>
        </p:txBody>
      </p:sp>
      <p:sp>
        <p:nvSpPr>
          <p:cNvPr id="73" name="Shape 71"/>
          <p:cNvSpPr/>
          <p:nvPr/>
        </p:nvSpPr>
        <p:spPr>
          <a:xfrm>
            <a:off x="576000" y="9648000"/>
            <a:ext cx="13968000" cy="18000"/>
          </a:xfrm>
          <a:prstGeom prst="rect">
            <a:avLst/>
          </a:prstGeom>
          <a:solidFill>
            <a:srgbClr val="DDE2EA"/>
          </a:solidFill>
          <a:ln/>
        </p:spPr>
      </p:sp>
      <p:sp>
        <p:nvSpPr>
          <p:cNvPr id="74" name="Text 72"/>
          <p:cNvSpPr/>
          <p:nvPr/>
        </p:nvSpPr>
        <p:spPr>
          <a:xfrm>
            <a:off x="576000" y="9828000"/>
            <a:ext cx="828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F243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Vanilla JS（ESモジュール）／ Web Audio API ／ Soundfont-player</a:t>
            </a:r>
            <a:pPr indent="0" marL="0">
              <a:buNone/>
            </a:pPr>
            <a:r>
              <a:rPr lang="en-US" sz="1110" dirty="0">
                <a:solidFill>
                  <a:srgbClr val="5F6B7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個人開発・全ファイル新規</a:t>
            </a:r>
            <a:endParaRPr lang="en-US" sz="1110" dirty="0"/>
          </a:p>
        </p:txBody>
      </p:sp>
      <p:sp>
        <p:nvSpPr>
          <p:cNvPr id="75" name="Shape 73"/>
          <p:cNvSpPr/>
          <p:nvPr/>
        </p:nvSpPr>
        <p:spPr>
          <a:xfrm>
            <a:off x="10944000" y="9756000"/>
            <a:ext cx="3600000" cy="396000"/>
          </a:xfrm>
          <a:prstGeom prst="roundRect">
            <a:avLst>
              <a:gd name="adj" fmla="val 13855"/>
            </a:avLst>
          </a:prstGeom>
          <a:solidFill>
            <a:srgbClr val="FFFFFF"/>
          </a:solidFill>
          <a:ln w="25400">
            <a:solidFill>
              <a:srgbClr val="2F6F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944000" y="9756000"/>
            <a:ext cx="3600000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90" b="1" dirty="0">
                <a:solidFill>
                  <a:srgbClr val="2F6FE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発表では実際に音を出して実演します</a:t>
            </a:r>
            <a:endParaRPr lang="en-US" sz="13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2026-07-29T02:41:34Z</dcterms:created>
  <dcterms:modified xsi:type="dcterms:W3CDTF">2026-07-29T02:41:34Z</dcterms:modified>
</cp:coreProperties>
</file>